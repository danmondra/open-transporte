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3790353-8F30-417B-B361-10ED1A792651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4E6D15-78CF-40C5-B76E-03A455F24CB9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0;p2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D5E45B-615A-40B4-AE64-1CEA9B572A2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" name="Google Shape;12;p2" descr=""/>
          <p:cNvPicPr/>
          <p:nvPr/>
        </p:nvPicPr>
        <p:blipFill>
          <a:blip r:embed="rId3"/>
          <a:stretch/>
        </p:blipFill>
        <p:spPr>
          <a:xfrm>
            <a:off x="366120" y="325440"/>
            <a:ext cx="1981800" cy="483120"/>
          </a:xfrm>
          <a:prstGeom prst="rect">
            <a:avLst/>
          </a:prstGeom>
          <a:ln w="0">
            <a:noFill/>
          </a:ln>
        </p:spPr>
      </p:pic>
      <p:pic>
        <p:nvPicPr>
          <p:cNvPr id="3" name="Google Shape;13;p2" descr=""/>
          <p:cNvPicPr/>
          <p:nvPr/>
        </p:nvPicPr>
        <p:blipFill>
          <a:blip r:embed="rId4"/>
          <a:stretch/>
        </p:blipFill>
        <p:spPr>
          <a:xfrm>
            <a:off x="5016600" y="894600"/>
            <a:ext cx="3455280" cy="33537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5;p3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67DB16-AB5B-4528-B4CE-9618043B8F84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" name="Google Shape;17;p3" descr=""/>
          <p:cNvPicPr/>
          <p:nvPr/>
        </p:nvPicPr>
        <p:blipFill>
          <a:blip r:embed="rId3"/>
          <a:stretch/>
        </p:blipFill>
        <p:spPr>
          <a:xfrm>
            <a:off x="366120" y="325440"/>
            <a:ext cx="1981800" cy="4831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9;p4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pic>
        <p:nvPicPr>
          <p:cNvPr id="12" name="Google Shape;20;p4" descr=""/>
          <p:cNvPicPr/>
          <p:nvPr/>
        </p:nvPicPr>
        <p:blipFill>
          <a:blip r:embed="rId3"/>
          <a:stretch/>
        </p:blipFill>
        <p:spPr>
          <a:xfrm>
            <a:off x="7532640" y="189000"/>
            <a:ext cx="1405440" cy="3423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2;p5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pic>
        <p:nvPicPr>
          <p:cNvPr id="14" name="Google Shape;23;p5" descr=""/>
          <p:cNvPicPr/>
          <p:nvPr/>
        </p:nvPicPr>
        <p:blipFill>
          <a:blip r:embed="rId3"/>
          <a:stretch/>
        </p:blipFill>
        <p:spPr>
          <a:xfrm>
            <a:off x="7532640" y="189000"/>
            <a:ext cx="1405440" cy="342360"/>
          </a:xfrm>
          <a:prstGeom prst="rect">
            <a:avLst/>
          </a:prstGeom>
          <a:ln w="0">
            <a:noFill/>
          </a:ln>
        </p:spPr>
      </p:pic>
      <p:sp>
        <p:nvSpPr>
          <p:cNvPr id="15" name="Google Shape;24;p5"/>
          <p:cNvSpPr/>
          <p:nvPr/>
        </p:nvSpPr>
        <p:spPr>
          <a:xfrm>
            <a:off x="0" y="4810680"/>
            <a:ext cx="9143280" cy="3524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chemeClr val="lt1"/>
              </a:solidFill>
              <a:latin typeface="Helvetica Neue"/>
              <a:ea typeface="Helvetica Neue"/>
            </a:endParaRPr>
          </a:p>
        </p:txBody>
      </p:sp>
      <p:sp>
        <p:nvSpPr>
          <p:cNvPr id="16" name="Google Shape;25;p5"/>
          <p:cNvSpPr/>
          <p:nvPr/>
        </p:nvSpPr>
        <p:spPr>
          <a:xfrm>
            <a:off x="5721480" y="4888080"/>
            <a:ext cx="323568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spAutoFit/>
          </a:bodyPr>
          <a:p>
            <a:pPr algn="r">
              <a:lnSpc>
                <a:spcPct val="90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chemeClr val="dk1"/>
                </a:solidFill>
                <a:latin typeface="Titillium Web"/>
                <a:ea typeface="Titillium Web"/>
              </a:rPr>
              <a:t>@interledger  #openpayments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Google Shape;26;p5"/>
          <p:cNvSpPr/>
          <p:nvPr/>
        </p:nvSpPr>
        <p:spPr>
          <a:xfrm>
            <a:off x="1399320" y="4880880"/>
            <a:ext cx="84348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1"/>
                </a:solidFill>
                <a:latin typeface="Titillium Web"/>
                <a:ea typeface="Titillium Web"/>
              </a:rPr>
              <a:t>#ILPhacks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" name="Google Shape;27;p5" descr=""/>
          <p:cNvPicPr/>
          <p:nvPr/>
        </p:nvPicPr>
        <p:blipFill>
          <a:blip r:embed="rId4"/>
          <a:stretch/>
        </p:blipFill>
        <p:spPr>
          <a:xfrm flipH="1">
            <a:off x="91440" y="4173120"/>
            <a:ext cx="1307880" cy="984240"/>
          </a:xfrm>
          <a:prstGeom prst="rect">
            <a:avLst/>
          </a:prstGeom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9;p6" descr=""/>
          <p:cNvPicPr/>
          <p:nvPr/>
        </p:nvPicPr>
        <p:blipFill>
          <a:blip r:embed="rId2"/>
          <a:stretch/>
        </p:blipFill>
        <p:spPr>
          <a:xfrm>
            <a:off x="7532640" y="189000"/>
            <a:ext cx="1405440" cy="3423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4;p7"/>
          <p:cNvSpPr/>
          <p:nvPr/>
        </p:nvSpPr>
        <p:spPr>
          <a:xfrm>
            <a:off x="326880" y="1715760"/>
            <a:ext cx="4094640" cy="17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3500" spc="-1" strike="noStrike">
                <a:solidFill>
                  <a:schemeClr val="accent6"/>
                </a:solidFill>
                <a:latin typeface="Titillium Web"/>
                <a:ea typeface="Titillium Web"/>
              </a:rPr>
              <a:t>Open Transporte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3000" spc="-1" strike="noStrike">
                <a:solidFill>
                  <a:srgbClr val="00ffff"/>
                </a:solidFill>
                <a:latin typeface="Titillium Web SemiBold"/>
                <a:ea typeface="Titillium Web SemiBold"/>
              </a:rPr>
              <a:t>Interledger Student Hackathon 2025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39;p8"/>
          <p:cNvSpPr/>
          <p:nvPr/>
        </p:nvSpPr>
        <p:spPr>
          <a:xfrm>
            <a:off x="510480" y="1168200"/>
            <a:ext cx="462024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t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3900" spc="-1" strike="noStrike">
                <a:solidFill>
                  <a:srgbClr val="00ffff"/>
                </a:solidFill>
                <a:latin typeface="Titillium Web"/>
                <a:ea typeface="Titillium Web"/>
              </a:rPr>
              <a:t>Meet the team</a:t>
            </a:r>
            <a:endParaRPr b="0" lang="en-US" sz="3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Google Shape;40;p8"/>
          <p:cNvSpPr/>
          <p:nvPr/>
        </p:nvSpPr>
        <p:spPr>
          <a:xfrm>
            <a:off x="405360" y="2187720"/>
            <a:ext cx="4620240" cy="19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Open Transporte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Angel Uriel Ramirez de la Cruz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Neydi Michell Marin Torres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Moises Hernandez Lazaro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Daniel Mondragon Tapia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" name="Google Shape;41;p8"/>
          <p:cNvCxnSpPr/>
          <p:nvPr/>
        </p:nvCxnSpPr>
        <p:spPr>
          <a:xfrm>
            <a:off x="510480" y="1985040"/>
            <a:ext cx="4792320" cy="720"/>
          </a:xfrm>
          <a:prstGeom prst="straightConnector1">
            <a:avLst/>
          </a:prstGeom>
          <a:ln w="9525">
            <a:solidFill>
              <a:srgbClr val="00ffff"/>
            </a:solidFill>
            <a:round/>
            <a:tailEnd len="med" type="stealth" w="med"/>
          </a:ln>
        </p:spPr>
      </p:cxnSp>
      <p:sp>
        <p:nvSpPr>
          <p:cNvPr id="26" name="Google Shape;42;p8"/>
          <p:cNvSpPr/>
          <p:nvPr/>
        </p:nvSpPr>
        <p:spPr>
          <a:xfrm>
            <a:off x="5765400" y="1484280"/>
            <a:ext cx="2828160" cy="27849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" descr=""/>
          <p:cNvPicPr/>
          <p:nvPr/>
        </p:nvPicPr>
        <p:blipFill>
          <a:blip r:embed="rId1"/>
          <a:stretch/>
        </p:blipFill>
        <p:spPr>
          <a:xfrm>
            <a:off x="6258960" y="1980000"/>
            <a:ext cx="1799640" cy="179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47;p9"/>
          <p:cNvSpPr/>
          <p:nvPr/>
        </p:nvSpPr>
        <p:spPr>
          <a:xfrm>
            <a:off x="562320" y="482400"/>
            <a:ext cx="462024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t">
            <a:normAutofit fontScale="94444"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3900" spc="-1" strike="noStrike">
                <a:solidFill>
                  <a:schemeClr val="accent6"/>
                </a:solidFill>
                <a:latin typeface="Titillium Web"/>
                <a:ea typeface="Titillium Web"/>
              </a:rPr>
              <a:t>Problem statement</a:t>
            </a:r>
            <a:endParaRPr b="0" lang="en-US" sz="3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Google Shape;48;p9"/>
          <p:cNvSpPr/>
          <p:nvPr/>
        </p:nvSpPr>
        <p:spPr>
          <a:xfrm>
            <a:off x="457200" y="1450080"/>
            <a:ext cx="6452640" cy="19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301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Titillium Web"/>
              <a:buChar char="●"/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Falta de transparencia en las subvenciones al transporte.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Titillium Web"/>
              <a:buChar char="●"/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El acceso sin control genera riesgos para la seguridad.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Titillium Web"/>
              <a:buChar char="●"/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Sistema cerrado y fragmentado limitado al efectivo y los bancos.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Titillium Web"/>
              <a:buChar char="●"/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No hay datos en tiempo real sobre las rutas y el uso.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" name="Google Shape;49;p9"/>
          <p:cNvCxnSpPr/>
          <p:nvPr/>
        </p:nvCxnSpPr>
        <p:spPr>
          <a:xfrm>
            <a:off x="562320" y="1299240"/>
            <a:ext cx="5456880" cy="720"/>
          </a:xfrm>
          <a:prstGeom prst="straightConnector1">
            <a:avLst/>
          </a:prstGeom>
          <a:ln w="9525">
            <a:solidFill>
              <a:srgbClr val="eeff41"/>
            </a:solidFill>
            <a:round/>
            <a:tailEnd len="med" type="stealth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54;p10"/>
          <p:cNvSpPr/>
          <p:nvPr/>
        </p:nvSpPr>
        <p:spPr>
          <a:xfrm>
            <a:off x="510480" y="228960"/>
            <a:ext cx="462024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t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3900" spc="-1" strike="noStrike">
                <a:solidFill>
                  <a:srgbClr val="00ffff"/>
                </a:solidFill>
                <a:latin typeface="Titillium Web"/>
                <a:ea typeface="Titillium Web"/>
              </a:rPr>
              <a:t>Solution</a:t>
            </a:r>
            <a:endParaRPr b="0" lang="en-US" sz="3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Google Shape;55;p10"/>
          <p:cNvSpPr/>
          <p:nvPr/>
        </p:nvSpPr>
        <p:spPr>
          <a:xfrm>
            <a:off x="405360" y="1248480"/>
            <a:ext cx="8414280" cy="19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La aplicación se basa en la interoperabilidad y los pagos abiertos para registrar estadísticas de uso del transporte público. Su objetivo es servir como herramienta gubernamental y colectiva.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Pagos en tiempo real sin necesidad de saldos.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Interoperabilidad entre sistemas de transporte (metro, metrobús, RTP, trolebús, tren, etc.).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Programas sociales que se aplican directamente al usuario.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Análisis de estadísticas para ajustar la oferta de transporte según la demanda.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3" name="Google Shape;56;p10"/>
          <p:cNvCxnSpPr/>
          <p:nvPr/>
        </p:nvCxnSpPr>
        <p:spPr>
          <a:xfrm>
            <a:off x="510480" y="1045800"/>
            <a:ext cx="5456880" cy="720"/>
          </a:xfrm>
          <a:prstGeom prst="straightConnector1">
            <a:avLst/>
          </a:prstGeom>
          <a:ln w="9525">
            <a:solidFill>
              <a:srgbClr val="00ffff"/>
            </a:solidFill>
            <a:round/>
            <a:tailEnd len="med" type="stealth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54;p 1"/>
          <p:cNvSpPr/>
          <p:nvPr/>
        </p:nvSpPr>
        <p:spPr>
          <a:xfrm>
            <a:off x="606240" y="425880"/>
            <a:ext cx="462024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t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3900" spc="-1" strike="noStrike">
                <a:solidFill>
                  <a:srgbClr val="00ffff"/>
                </a:solidFill>
                <a:latin typeface="Titillium Web"/>
                <a:ea typeface="Titillium Web"/>
              </a:rPr>
              <a:t>Solution</a:t>
            </a:r>
            <a:endParaRPr b="0" lang="en-US" sz="3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" name="Google Shape;56;p 1"/>
          <p:cNvCxnSpPr/>
          <p:nvPr/>
        </p:nvCxnSpPr>
        <p:spPr>
          <a:xfrm>
            <a:off x="487080" y="1143000"/>
            <a:ext cx="5456880" cy="720"/>
          </a:xfrm>
          <a:prstGeom prst="straightConnector1">
            <a:avLst/>
          </a:prstGeom>
          <a:ln w="9525">
            <a:solidFill>
              <a:srgbClr val="00ffff"/>
            </a:solidFill>
            <a:round/>
            <a:tailEnd len="med" type="stealth" w="med"/>
          </a:ln>
        </p:spPr>
      </p:cxnSp>
      <p:pic>
        <p:nvPicPr>
          <p:cNvPr id="36" name="" descr=""/>
          <p:cNvPicPr/>
          <p:nvPr/>
        </p:nvPicPr>
        <p:blipFill>
          <a:blip r:embed="rId1"/>
          <a:stretch/>
        </p:blipFill>
        <p:spPr>
          <a:xfrm>
            <a:off x="1476720" y="1293840"/>
            <a:ext cx="5152680" cy="3434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61;p11"/>
          <p:cNvSpPr/>
          <p:nvPr/>
        </p:nvSpPr>
        <p:spPr>
          <a:xfrm>
            <a:off x="510480" y="1168200"/>
            <a:ext cx="462024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t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3900" spc="-1" strike="noStrike">
                <a:solidFill>
                  <a:schemeClr val="accent6"/>
                </a:solidFill>
                <a:latin typeface="Titillium Web"/>
                <a:ea typeface="Titillium Web"/>
              </a:rPr>
              <a:t>Demo</a:t>
            </a:r>
            <a:endParaRPr b="0" lang="en-US" sz="3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62;p11"/>
          <p:cNvSpPr/>
          <p:nvPr/>
        </p:nvSpPr>
        <p:spPr>
          <a:xfrm>
            <a:off x="405360" y="2187720"/>
            <a:ext cx="4620240" cy="19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30120">
              <a:lnSpc>
                <a:spcPct val="100000"/>
              </a:lnSpc>
              <a:buClr>
                <a:srgbClr val="ffffff"/>
              </a:buClr>
              <a:buFont typeface="Titillium Web"/>
              <a:buChar char="●"/>
            </a:pP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{Showcase </a:t>
            </a:r>
            <a:r>
              <a:rPr b="1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a demo</a:t>
            </a:r>
            <a:r>
              <a:rPr b="0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 of your project [max 2 min]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ffffff"/>
              </a:buClr>
              <a:buFont typeface="Titillium Web"/>
              <a:buChar char="●"/>
            </a:pPr>
            <a:r>
              <a:rPr b="0" i="1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Tip: pre-record it in case of technical difficulties on stage BUT </a:t>
            </a:r>
            <a:r>
              <a:rPr b="1" i="1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live demo is preferred</a:t>
            </a:r>
            <a:r>
              <a:rPr b="0" i="1" lang="en" sz="1600" spc="-1" strike="noStrike">
                <a:solidFill>
                  <a:schemeClr val="lt1"/>
                </a:solidFill>
                <a:latin typeface="Titillium Web"/>
                <a:ea typeface="Titillium Web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9" name="Google Shape;63;p11"/>
          <p:cNvCxnSpPr/>
          <p:nvPr/>
        </p:nvCxnSpPr>
        <p:spPr>
          <a:xfrm>
            <a:off x="510480" y="1985040"/>
            <a:ext cx="5456880" cy="720"/>
          </a:xfrm>
          <a:prstGeom prst="straightConnector1">
            <a:avLst/>
          </a:prstGeom>
          <a:ln w="9525">
            <a:solidFill>
              <a:srgbClr val="eeff41"/>
            </a:solidFill>
            <a:round/>
            <a:tailEnd len="med" type="stealth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68;p12"/>
          <p:cNvSpPr/>
          <p:nvPr/>
        </p:nvSpPr>
        <p:spPr>
          <a:xfrm>
            <a:off x="510480" y="1168200"/>
            <a:ext cx="462024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t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3900" spc="-1" strike="noStrike">
                <a:solidFill>
                  <a:srgbClr val="00ffff"/>
                </a:solidFill>
                <a:latin typeface="Titillium Web"/>
                <a:ea typeface="Titillium Web"/>
              </a:rPr>
              <a:t>Conclusion</a:t>
            </a:r>
            <a:endParaRPr b="0" lang="en-US" sz="3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Google Shape;69;p12"/>
          <p:cNvSpPr/>
          <p:nvPr/>
        </p:nvSpPr>
        <p:spPr>
          <a:xfrm>
            <a:off x="405360" y="2187720"/>
            <a:ext cx="6154920" cy="19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30120">
              <a:lnSpc>
                <a:spcPct val="100000"/>
              </a:lnSpc>
              <a:buClr>
                <a:srgbClr val="ffffff"/>
              </a:buClr>
              <a:buFont typeface="Titillium Web"/>
              <a:buChar char="●"/>
            </a:pPr>
            <a:r>
              <a:rPr b="0" lang="en" sz="1600" spc="-1" strike="noStrike">
                <a:solidFill>
                  <a:schemeClr val="lt1"/>
                </a:solidFill>
                <a:latin typeface="Libre Franklin"/>
                <a:ea typeface="Libre Franklin"/>
              </a:rPr>
              <a:t>{</a:t>
            </a:r>
            <a:r>
              <a:rPr b="1" lang="en" sz="1600" spc="-1" strike="noStrike">
                <a:solidFill>
                  <a:schemeClr val="lt1"/>
                </a:solidFill>
                <a:latin typeface="Libre Franklin"/>
                <a:ea typeface="Libre Franklin"/>
              </a:rPr>
              <a:t>Summarise and share</a:t>
            </a:r>
            <a:r>
              <a:rPr b="0" lang="en" sz="1600" spc="-1" strike="noStrike">
                <a:solidFill>
                  <a:schemeClr val="lt1"/>
                </a:solidFill>
                <a:latin typeface="Libre Franklin"/>
                <a:ea typeface="Libre Franklin"/>
              </a:rPr>
              <a:t> what you would like to do next </a:t>
            </a:r>
            <a:r>
              <a:rPr b="0" i="1" lang="en" sz="1600" spc="-1" strike="noStrike">
                <a:solidFill>
                  <a:schemeClr val="lt1"/>
                </a:solidFill>
                <a:latin typeface="Libre Franklin"/>
                <a:ea typeface="Libre Franklin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2" name="Google Shape;70;p12"/>
          <p:cNvCxnSpPr/>
          <p:nvPr/>
        </p:nvCxnSpPr>
        <p:spPr>
          <a:xfrm>
            <a:off x="510480" y="1985040"/>
            <a:ext cx="5456880" cy="720"/>
          </a:xfrm>
          <a:prstGeom prst="straightConnector1">
            <a:avLst/>
          </a:prstGeom>
          <a:ln w="9525">
            <a:solidFill>
              <a:srgbClr val="00ffff"/>
            </a:solidFill>
            <a:round/>
            <a:tailEnd len="med" type="stealth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LibreOffice/24.2.7.2$Linux_X86_64 LibreOffice_project/420$Build-2</Application>
  <AppVersion>15.0000</AppVersion>
  <Words>150</Words>
  <Paragraphs>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Fernanda Torres</dc:creator>
  <dc:description/>
  <dc:language>es-ES</dc:language>
  <cp:lastModifiedBy/>
  <dcterms:modified xsi:type="dcterms:W3CDTF">2025-09-19T15:31:50Z</dcterms:modified>
  <cp:revision>3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Presentación en pantalla (16:9)</vt:lpwstr>
  </property>
  <property fmtid="{D5CDD505-2E9C-101B-9397-08002B2CF9AE}" pid="4" name="Slides">
    <vt:i4>6</vt:i4>
  </property>
</Properties>
</file>